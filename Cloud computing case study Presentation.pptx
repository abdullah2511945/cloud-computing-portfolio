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50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8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7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1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1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5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0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5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5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1985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0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76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49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90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5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90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484188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2420" y="3210878"/>
            <a:ext cx="9144000" cy="1655762"/>
          </a:xfrm>
        </p:spPr>
        <p:txBody>
          <a:bodyPr/>
          <a:lstStyle/>
          <a:p>
            <a: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  <a:t>Name: Muhammad Abdullah</a:t>
            </a:r>
          </a:p>
          <a:p>
            <a: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  <a:t>STUDENT ID : 2511945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TASK 1 - ATN : Cloud Migration</a:t>
            </a:r>
            <a:endParaRPr lang="en-US" altLang="en-US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9103006" cy="4459941"/>
          </a:xfrm>
        </p:spPr>
        <p:txBody>
          <a:bodyPr>
            <a:normAutofit fontScale="82500" lnSpcReduction="20000"/>
          </a:bodyPr>
          <a:lstStyle/>
          <a:p>
            <a:pPr marL="0" indent="0" algn="l">
              <a:buNone/>
            </a:pPr>
            <a:r>
              <a:rPr lang="en-US" sz="2700" b="1" u="sng" dirty="0">
                <a:latin typeface="Century Gothic (Headings)"/>
                <a:cs typeface="Times New Roman" panose="02020603050405020304" charset="0"/>
              </a:rPr>
              <a:t>MAIN MOTIVATION</a:t>
            </a:r>
            <a:r>
              <a:rPr lang="en-US" sz="2700" dirty="0">
                <a:latin typeface="Century Gothic (Headings)"/>
              </a:rPr>
              <a:t>:</a:t>
            </a:r>
          </a:p>
          <a:p>
            <a:pPr algn="l"/>
            <a:r>
              <a:rPr lang="en-US" sz="2400" dirty="0">
                <a:latin typeface="Century Gothic (Headings)"/>
              </a:rPr>
              <a:t>ATN  wanted to cut down high data center cost and reduce the hassle of maintaining hardware.</a:t>
            </a:r>
          </a:p>
          <a:p>
            <a:pPr algn="l"/>
            <a:r>
              <a:rPr lang="en-US" sz="2400" dirty="0">
                <a:latin typeface="Century Gothic (Headings)"/>
              </a:rPr>
              <a:t> The company needed a </a:t>
            </a:r>
            <a:r>
              <a:rPr lang="en-US" altLang="en-US" sz="2400" dirty="0">
                <a:latin typeface="Century Gothic (Headings)"/>
              </a:rPr>
              <a:t>standardized IT setup for its global operations.</a:t>
            </a:r>
          </a:p>
          <a:p>
            <a:pPr algn="l"/>
            <a:r>
              <a:rPr lang="en-US" altLang="en-US" sz="2400" dirty="0">
                <a:latin typeface="Century Gothic (Headings)"/>
              </a:rPr>
              <a:t> Cloud offered a way to scale easily during busy times.  </a:t>
            </a:r>
          </a:p>
          <a:p>
            <a:pPr marL="0" indent="0" algn="l">
              <a:buNone/>
            </a:pPr>
            <a:endParaRPr lang="en-US" altLang="en-US" sz="2400" dirty="0">
              <a:latin typeface="Century Gothic (Headings)"/>
            </a:endParaRPr>
          </a:p>
          <a:p>
            <a:pPr marL="0" indent="0" algn="l">
              <a:buNone/>
            </a:pPr>
            <a:r>
              <a:rPr lang="en-US" altLang="en-US" sz="3200" b="1" u="sng" dirty="0">
                <a:latin typeface="Century Gothic (Headings)"/>
                <a:cs typeface="Times New Roman" panose="02020603050405020304" charset="0"/>
              </a:rPr>
              <a:t>Key Challenges:</a:t>
            </a:r>
          </a:p>
          <a:p>
            <a:pPr algn="l"/>
            <a:r>
              <a:rPr lang="en-US" altLang="en-US" sz="2400" dirty="0">
                <a:latin typeface="Century Gothic (Headings)"/>
              </a:rPr>
              <a:t>Many apps needed redevelopment or updates to work in the cloud.</a:t>
            </a:r>
            <a:endParaRPr lang="en-US" altLang="en-US" sz="3200" b="1" u="sng" dirty="0">
              <a:latin typeface="Century Gothic (Headings)"/>
              <a:cs typeface="Times New Roman" panose="02020603050405020304" charset="0"/>
            </a:endParaRPr>
          </a:p>
          <a:p>
            <a:pPr algn="l"/>
            <a:r>
              <a:rPr lang="en-US" altLang="en-US" sz="2400" dirty="0">
                <a:latin typeface="Century Gothic (Headings)"/>
              </a:rPr>
              <a:t>Security and data privacy were major concerns during migration.</a:t>
            </a:r>
            <a:endParaRPr lang="en-US" altLang="en-US" sz="3200" b="1" u="sng" dirty="0">
              <a:latin typeface="Century Gothic (Headings)"/>
              <a:cs typeface="Times New Roman" panose="02020603050405020304" charset="0"/>
            </a:endParaRPr>
          </a:p>
          <a:p>
            <a:pPr algn="l"/>
            <a:r>
              <a:rPr lang="en-US" altLang="en-US" sz="2400" dirty="0">
                <a:latin typeface="Century Gothic (Headings)"/>
              </a:rPr>
              <a:t>Internal teams faced a learning curve and needed training to manage the new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TASK 1 - ATN : Cloud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How Cloud Adoption Improved Cost Efficiency &amp; Scalability: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ATN saved money by reducing hardware and maintenance costs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The new setup allowed quick scaling during high usage periods.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The pay-as-you-go model helped manage budgets better.</a:t>
            </a:r>
          </a:p>
          <a:p>
            <a:pPr marL="0" indent="0">
              <a:buNone/>
            </a:pPr>
            <a:endParaRPr lang="en-US" altLang="en-US" sz="2400" dirty="0">
              <a:latin typeface="Century Gothic (Headings)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What Others Can Learn: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Begin with a hybrid cloud model to reduce risks.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Focus on training staff early for a smoother transition.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Keep monitoring and reviewing results to improve continuously.</a:t>
            </a:r>
            <a:br>
              <a:rPr lang="en-US" altLang="en-US" sz="2400" dirty="0">
                <a:latin typeface="Century Gothic (Headings)"/>
                <a:cs typeface="Calibri" panose="020F0502020204030204" charset="0"/>
              </a:rPr>
            </a:br>
            <a:endParaRPr lang="en-US" altLang="en-US" sz="2400" dirty="0">
              <a:latin typeface="Century Gothic (Headings)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TASK 2 : </a:t>
            </a:r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DTGOV- Cloud Infrastructure and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Transition from Outsourcing to Cloud:</a:t>
            </a:r>
          </a:p>
          <a:p>
            <a:r>
              <a:rPr lang="en-US" altLang="en-US" sz="2500" dirty="0">
                <a:latin typeface="Century Gothic (Headings)"/>
                <a:cs typeface="Calibri" panose="020F0502020204030204" charset="0"/>
              </a:rPr>
              <a:t>DTGOV used to depend on outside vendors for IT services.</a:t>
            </a:r>
          </a:p>
          <a:p>
            <a:r>
              <a:rPr lang="en-US" altLang="en-US" sz="2500" dirty="0">
                <a:latin typeface="Century Gothic (Headings)"/>
                <a:cs typeface="Calibri" panose="020F0502020204030204" charset="0"/>
              </a:rPr>
              <a:t>Moving to a self-managed cloud model gave them more control, faster delivery, and better service for government departments.</a:t>
            </a:r>
          </a:p>
          <a:p>
            <a:pPr marL="0" indent="0">
              <a:buNone/>
            </a:pPr>
            <a:endParaRPr lang="en-US" altLang="en-US" sz="2500" dirty="0">
              <a:latin typeface="Century Gothic (Headings)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Key Architectural &amp; Operational Changes: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Introduced </a:t>
            </a:r>
            <a:r>
              <a:rPr lang="en-US" altLang="en-US" sz="2400" dirty="0" err="1">
                <a:latin typeface="Century Gothic (Headings)"/>
                <a:cs typeface="Calibri" panose="020F0502020204030204" charset="0"/>
              </a:rPr>
              <a:t>virtualisation</a:t>
            </a:r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 to use resources efficiently.</a:t>
            </a:r>
          </a:p>
          <a:p>
            <a:r>
              <a:rPr lang="en-US" altLang="en-US" sz="2400" dirty="0" err="1">
                <a:latin typeface="Century Gothic (Headings)"/>
                <a:cs typeface="Calibri" panose="020F0502020204030204" charset="0"/>
              </a:rPr>
              <a:t>Standardised</a:t>
            </a:r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 systems to reduce errors and confusion.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Improved security and monitoring across all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2 : </a:t>
            </a:r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DTGOV- Cloud Infrastructure and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Improvements &amp; New Challenges:</a:t>
            </a:r>
          </a:p>
          <a:p>
            <a:r>
              <a:rPr lang="en-US" altLang="en-US" sz="2400" dirty="0">
                <a:latin typeface="Century Gothic (Headings)"/>
                <a:cs typeface="+mn-lt"/>
              </a:rPr>
              <a:t>Services became faster, more reliable, and flexible.</a:t>
            </a:r>
          </a:p>
          <a:p>
            <a:r>
              <a:rPr lang="en-US" altLang="en-US" sz="2400" dirty="0">
                <a:latin typeface="Century Gothic (Headings)"/>
                <a:cs typeface="+mn-lt"/>
              </a:rPr>
              <a:t>New issues appeared — like training staff, security risks, and managing multiple departments smoothly.</a:t>
            </a:r>
          </a:p>
          <a:p>
            <a:pPr marL="0" indent="0">
              <a:buNone/>
            </a:pPr>
            <a:endParaRPr lang="en-US" altLang="en-US" sz="2400" dirty="0">
              <a:latin typeface="Century Gothic (Headings)"/>
              <a:cs typeface="+mn-lt"/>
            </a:endParaRPr>
          </a:p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How DevOps Can Help Further: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Automation for faster, error-free deployments.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Infrastructure as Code for consistent setups.</a:t>
            </a:r>
          </a:p>
          <a:p>
            <a:r>
              <a:rPr lang="en-US" altLang="en-US" sz="2400" dirty="0">
                <a:latin typeface="Century Gothic (Headings)"/>
                <a:cs typeface="Calibri" panose="020F0502020204030204" charset="0"/>
              </a:rPr>
              <a:t>Better team collaboration between dev and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TASK 3 -</a:t>
            </a:r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Innovartus: Multi-Cloud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Motivation for Moving to a Global Cloud Provider:</a:t>
            </a:r>
          </a:p>
          <a:p>
            <a:r>
              <a:rPr lang="en-US" altLang="en-US" dirty="0">
                <a:latin typeface="Century Gothic (Headings)"/>
              </a:rPr>
              <a:t>needed global reach for international clients.</a:t>
            </a:r>
          </a:p>
          <a:p>
            <a:r>
              <a:rPr lang="en-US" altLang="en-US" dirty="0">
                <a:latin typeface="Century Gothic (Headings)"/>
              </a:rPr>
              <a:t>A global provider offered better performance, reliability, and across multiple regions.</a:t>
            </a:r>
          </a:p>
          <a:p>
            <a:pPr marL="0" indent="0">
              <a:buNone/>
            </a:pPr>
            <a:endParaRPr lang="en-US" altLang="en-US" dirty="0">
              <a:latin typeface="Century Gothic (Headings)"/>
            </a:endParaRPr>
          </a:p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Challenges Faced:</a:t>
            </a:r>
          </a:p>
          <a:p>
            <a:r>
              <a:rPr lang="en-US" altLang="en-US" dirty="0">
                <a:latin typeface="Century Gothic (Headings)"/>
              </a:rPr>
              <a:t>Moving apps between platforms wasn’t always smooth.</a:t>
            </a:r>
          </a:p>
          <a:p>
            <a:r>
              <a:rPr lang="en-US" altLang="en-US" dirty="0">
                <a:latin typeface="Century Gothic (Headings)"/>
              </a:rPr>
              <a:t>Different cloud systems didn’t always “talk” well to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3 -</a:t>
            </a:r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Innovartus: Multi-Cloud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Advantages of Multi-Cloud Strategy:</a:t>
            </a:r>
          </a:p>
          <a:p>
            <a:r>
              <a:rPr lang="en-US" altLang="en-US" dirty="0">
                <a:latin typeface="Century Gothic (Headings)"/>
              </a:rPr>
              <a:t>Avoids vendor dependency and gives more flexibility.</a:t>
            </a:r>
          </a:p>
          <a:p>
            <a:r>
              <a:rPr lang="en-US" altLang="en-US" dirty="0">
                <a:latin typeface="Century Gothic (Headings)"/>
              </a:rPr>
              <a:t>Improves reliability. If one cloud fails, another can take over.</a:t>
            </a:r>
          </a:p>
          <a:p>
            <a:r>
              <a:rPr lang="en-US" altLang="en-US" dirty="0">
                <a:latin typeface="Century Gothic (Headings)"/>
              </a:rPr>
              <a:t>Enables global coverage and better performance for users worldwide.</a:t>
            </a:r>
          </a:p>
          <a:p>
            <a:pPr marL="0" indent="0">
              <a:buNone/>
            </a:pPr>
            <a:endParaRPr lang="en-US" altLang="en-US" dirty="0">
              <a:latin typeface="Century Gothic (Headings)"/>
            </a:endParaRPr>
          </a:p>
          <a:p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Role of </a:t>
            </a:r>
            <a:r>
              <a:rPr lang="en-US" altLang="en-US" b="1" u="sng" dirty="0" err="1">
                <a:latin typeface="Century Gothic (Headings)"/>
                <a:cs typeface="Times New Roman" panose="02020603050405020304" charset="0"/>
              </a:rPr>
              <a:t>Containerisation</a:t>
            </a: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 and Microservices:</a:t>
            </a:r>
          </a:p>
          <a:p>
            <a:r>
              <a:rPr lang="en-US" altLang="en-US" dirty="0">
                <a:latin typeface="Century Gothic (Headings)"/>
              </a:rPr>
              <a:t>Containers make apps portable, so they run easily on any cloud.</a:t>
            </a:r>
          </a:p>
          <a:p>
            <a:r>
              <a:rPr lang="en-US" altLang="en-US" dirty="0">
                <a:latin typeface="Century Gothic (Headings)"/>
              </a:rPr>
              <a:t>Microservices divide large apps into smaller parts, making scaling and updates easier.</a:t>
            </a:r>
          </a:p>
          <a:p>
            <a:endParaRPr lang="en-US" dirty="0">
              <a:latin typeface="Century Gothic (Headings)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Task 4 – Comparative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Comparison of Cloud Journeys:</a:t>
            </a:r>
          </a:p>
          <a:p>
            <a:pPr marL="0" indent="0">
              <a:buNone/>
            </a:pPr>
            <a:endParaRPr lang="en-US" altLang="en-US" sz="900" b="1" u="sng" dirty="0">
              <a:latin typeface="Century Gothic (Headings)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dirty="0">
                <a:latin typeface="Century Gothic (Headings)"/>
              </a:rPr>
              <a:t>ATN: Wanted to give customers a better experience by using cloud-based software.</a:t>
            </a:r>
          </a:p>
          <a:p>
            <a:pPr marL="0" indent="0">
              <a:buNone/>
            </a:pPr>
            <a:r>
              <a:rPr lang="en-US" altLang="en-US" dirty="0">
                <a:latin typeface="Century Gothic (Headings)"/>
              </a:rPr>
              <a:t>DTGOV: Shifted from hiring outside IT help to using cloud systems, which made their work faster and smoother.</a:t>
            </a:r>
          </a:p>
          <a:p>
            <a:pPr marL="0" indent="0">
              <a:buNone/>
            </a:pPr>
            <a:r>
              <a:rPr lang="en-US" altLang="en-US" dirty="0" err="1">
                <a:latin typeface="Century Gothic (Headings)"/>
              </a:rPr>
              <a:t>Innovartus</a:t>
            </a:r>
            <a:r>
              <a:rPr lang="en-US" altLang="en-US" dirty="0">
                <a:latin typeface="Century Gothic (Headings)"/>
              </a:rPr>
              <a:t>: Grew from a local company to a global one by using many cloud platforms to handle more users and expand easily.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4 – Comparative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Common Challenges:</a:t>
            </a:r>
          </a:p>
          <a:p>
            <a:r>
              <a:rPr lang="en-US" altLang="en-US" dirty="0">
                <a:latin typeface="Century Gothic (Headings)"/>
              </a:rPr>
              <a:t>All faced security concerns, data migration issues, and staff skill gaps.</a:t>
            </a:r>
          </a:p>
          <a:p>
            <a:r>
              <a:rPr lang="en-US" altLang="en-US" dirty="0">
                <a:latin typeface="Century Gothic (Headings)"/>
              </a:rPr>
              <a:t>Managing costs and service consistency across platforms was also tricky.</a:t>
            </a:r>
          </a:p>
          <a:p>
            <a:pPr marL="0" indent="0">
              <a:buNone/>
            </a:pPr>
            <a:endParaRPr lang="en-US" altLang="en-US" dirty="0">
              <a:latin typeface="Century Gothic (Headings)"/>
            </a:endParaRPr>
          </a:p>
          <a:p>
            <a:r>
              <a:rPr lang="en-US" altLang="en-US" b="1" u="sng" dirty="0">
                <a:latin typeface="Century Gothic (Headings)"/>
                <a:cs typeface="Times New Roman" panose="02020603050405020304" charset="0"/>
              </a:rPr>
              <a:t>Business Outcomes:</a:t>
            </a:r>
          </a:p>
          <a:p>
            <a:r>
              <a:rPr lang="en-US" altLang="en-US" dirty="0">
                <a:latin typeface="Century Gothic (Headings)"/>
              </a:rPr>
              <a:t>ATN: Improved customer satisfaction and digital services.</a:t>
            </a:r>
          </a:p>
          <a:p>
            <a:r>
              <a:rPr lang="en-US" altLang="en-US" dirty="0">
                <a:latin typeface="Century Gothic (Headings)"/>
              </a:rPr>
              <a:t>DTGOV: Faster service delivery and operational efficiency.</a:t>
            </a:r>
          </a:p>
          <a:p>
            <a:r>
              <a:rPr lang="en-US" altLang="en-US" dirty="0" err="1">
                <a:latin typeface="Century Gothic (Headings)"/>
              </a:rPr>
              <a:t>Innovartus</a:t>
            </a:r>
            <a:r>
              <a:rPr lang="en-US" altLang="en-US" dirty="0">
                <a:latin typeface="Century Gothic (Headings)"/>
              </a:rPr>
              <a:t>: Global scalability and better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4 – Comparative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u="sng" dirty="0">
                <a:latin typeface="Times New Roman" panose="02020603050405020304" charset="0"/>
                <a:cs typeface="Times New Roman" panose="02020603050405020304" charset="0"/>
              </a:rPr>
              <a:t>Key Patterns &amp; Best Practices:</a:t>
            </a:r>
          </a:p>
          <a:p>
            <a:r>
              <a:rPr lang="en-US" altLang="en-US" dirty="0"/>
              <a:t>Start small, plan carefully, and focus on automation, this helps make the cloud journey smoother and more successful.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u="sng" dirty="0">
                <a:latin typeface="Times New Roman" panose="02020603050405020304" charset="0"/>
                <a:cs typeface="Times New Roman" panose="02020603050405020304" charset="0"/>
              </a:rPr>
              <a:t>Strategic Recommendation:</a:t>
            </a:r>
          </a:p>
          <a:p>
            <a:r>
              <a:rPr lang="en-US" altLang="en-US" dirty="0"/>
              <a:t> Begin with a pilot cloud project, focus on automation and staff upskilling, and expand once performance and security are stable.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654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Century Gothic</vt:lpstr>
      <vt:lpstr>Century Gothic (Headings)</vt:lpstr>
      <vt:lpstr>Times New Roman</vt:lpstr>
      <vt:lpstr>Wingdings 3</vt:lpstr>
      <vt:lpstr>Ion</vt:lpstr>
      <vt:lpstr>CLOUD COMPUTING</vt:lpstr>
      <vt:lpstr>TASK 1 - ATN : Cloud Migration</vt:lpstr>
      <vt:lpstr>TASK 1 - ATN : Cloud Migration</vt:lpstr>
      <vt:lpstr>TASK 2 : DTGOV- Cloud Infrastructure and Operations</vt:lpstr>
      <vt:lpstr>TASK 2 : DTGOV- Cloud Infrastructure and Operations</vt:lpstr>
      <vt:lpstr>TASK 3 -Innovartus: Multi-Cloud and Growth</vt:lpstr>
      <vt:lpstr>TASK 3 -Innovartus: Multi-Cloud and Growth</vt:lpstr>
      <vt:lpstr>Task 4 – Comparative Reflection</vt:lpstr>
      <vt:lpstr>Task 4 – Comparative Reflection</vt:lpstr>
      <vt:lpstr>Task 4 – Comparative 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Muhammad Abdullah Abdullah (2511945)</cp:lastModifiedBy>
  <cp:revision>7</cp:revision>
  <dcterms:created xsi:type="dcterms:W3CDTF">2025-07-23T00:59:00Z</dcterms:created>
  <dcterms:modified xsi:type="dcterms:W3CDTF">2026-03-11T04:05:54Z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75393FE7ABAA4DBBA838FFD145635E68_13</vt:lpwstr>
  </property>
  <property fmtid="{D5CDD505-2E9C-101B-9397-08002B2CF9AE}" pid="3" name="KSOProductBuildVer">
    <vt:lpwstr>1033-12.2.0.22549</vt:lpwstr>
  </property>
</Properties>
</file>